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8649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A48E0-A46B-3BAB-E8DD-EBF2778E8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71B11A-86FD-3E4B-9B86-7939DD53A1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583727-5F8B-C2C4-4A8A-080ECCC84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0543D-B6B5-215C-9B8B-0F7113DC29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5469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2E52"/>
          </a:solidFill>
          <a:ln w="12700">
            <a:solidFill>
              <a:srgbClr val="0D2E52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91B30"/>
          </a:solidFill>
          <a:ln w="12700">
            <a:solidFill>
              <a:srgbClr val="091B3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|  UNSUPERVISED LEARNING  |  CLUSTERING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Segmentasi Perilaku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Kartu Kredit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B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Strategi Limit dan Penawaran Promosi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3273552"/>
            <a:ext cx="2286000" cy="4114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6"/>
          <p:cNvSpPr/>
          <p:nvPr/>
        </p:nvSpPr>
        <p:spPr>
          <a:xfrm>
            <a:off x="594360" y="42793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Almunajat Amirul Soleh</a:t>
            </a:r>
            <a:r>
              <a:rPr lang="en-US" sz="1100" dirty="0">
                <a:solidFill>
                  <a:srgbClr val="7B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Mata Kuliah: Machine Learning   |   Topik: Clustering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54864" cy="47548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" name="Text 1"/>
          <p:cNvSpPr/>
          <p:nvPr/>
        </p:nvSpPr>
        <p:spPr>
          <a:xfrm>
            <a:off x="512064" y="14630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Presentasi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12064" y="5577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pembahasan — 10 menit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3977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475488" cy="4572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6"/>
          <p:cNvSpPr/>
          <p:nvPr/>
        </p:nvSpPr>
        <p:spPr>
          <a:xfrm>
            <a:off x="365760" y="987552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987552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 &amp; Rumusan Masalah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508760"/>
            <a:ext cx="3977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1" name="Shape 9"/>
          <p:cNvSpPr/>
          <p:nvPr/>
        </p:nvSpPr>
        <p:spPr>
          <a:xfrm>
            <a:off x="365760" y="1508760"/>
            <a:ext cx="475488" cy="4572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Text 10"/>
          <p:cNvSpPr/>
          <p:nvPr/>
        </p:nvSpPr>
        <p:spPr>
          <a:xfrm>
            <a:off x="365760" y="150876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" y="1508760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Preprocessing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029968"/>
            <a:ext cx="3977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475488" cy="457200"/>
          </a:xfrm>
          <a:prstGeom prst="rect">
            <a:avLst/>
          </a:prstGeom>
          <a:solidFill>
            <a:srgbClr val="0E6E7E"/>
          </a:solidFill>
          <a:ln w="12700">
            <a:solidFill>
              <a:srgbClr val="0E6E7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6" name="Text 14"/>
          <p:cNvSpPr/>
          <p:nvPr/>
        </p:nvSpPr>
        <p:spPr>
          <a:xfrm>
            <a:off x="365760" y="2029968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2029968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2551176"/>
            <a:ext cx="3977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9" name="Shape 17"/>
          <p:cNvSpPr/>
          <p:nvPr/>
        </p:nvSpPr>
        <p:spPr>
          <a:xfrm>
            <a:off x="365760" y="2551176"/>
            <a:ext cx="475488" cy="4572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Text 18"/>
          <p:cNvSpPr/>
          <p:nvPr/>
        </p:nvSpPr>
        <p:spPr>
          <a:xfrm>
            <a:off x="365760" y="2551176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2688" y="2551176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Penentuan Jumlah Klaster Optimal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3072384"/>
            <a:ext cx="3977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23" name="Shape 21"/>
          <p:cNvSpPr/>
          <p:nvPr/>
        </p:nvSpPr>
        <p:spPr>
          <a:xfrm>
            <a:off x="365760" y="3072384"/>
            <a:ext cx="475488" cy="4572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4" name="Text 22"/>
          <p:cNvSpPr/>
          <p:nvPr/>
        </p:nvSpPr>
        <p:spPr>
          <a:xfrm>
            <a:off x="365760" y="3072384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2688" y="3072384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&amp; Evaluasi Komparatif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90872" y="987552"/>
            <a:ext cx="3977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27" name="Shape 25"/>
          <p:cNvSpPr/>
          <p:nvPr/>
        </p:nvSpPr>
        <p:spPr>
          <a:xfrm>
            <a:off x="4690872" y="987552"/>
            <a:ext cx="475488" cy="457200"/>
          </a:xfrm>
          <a:prstGeom prst="rect">
            <a:avLst/>
          </a:prstGeom>
          <a:solidFill>
            <a:srgbClr val="0E6E7E"/>
          </a:solidFill>
          <a:ln w="12700">
            <a:solidFill>
              <a:srgbClr val="0E6E7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8" name="Text 26"/>
          <p:cNvSpPr/>
          <p:nvPr/>
        </p:nvSpPr>
        <p:spPr>
          <a:xfrm>
            <a:off x="4690872" y="987552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57800" y="987552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90872" y="1508760"/>
            <a:ext cx="3977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31" name="Shape 29"/>
          <p:cNvSpPr/>
          <p:nvPr/>
        </p:nvSpPr>
        <p:spPr>
          <a:xfrm>
            <a:off x="4690872" y="1508760"/>
            <a:ext cx="475488" cy="4572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2" name="Text 30"/>
          <p:cNvSpPr/>
          <p:nvPr/>
        </p:nvSpPr>
        <p:spPr>
          <a:xfrm>
            <a:off x="4690872" y="150876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57800" y="1508760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Final &amp; Profil Segmen Bisnis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690872" y="2029968"/>
            <a:ext cx="3977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35" name="Shape 33"/>
          <p:cNvSpPr/>
          <p:nvPr/>
        </p:nvSpPr>
        <p:spPr>
          <a:xfrm>
            <a:off x="4690872" y="2029968"/>
            <a:ext cx="475488" cy="4572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6" name="Text 34"/>
          <p:cNvSpPr/>
          <p:nvPr/>
        </p:nvSpPr>
        <p:spPr>
          <a:xfrm>
            <a:off x="4690872" y="2029968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57800" y="2029968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Polarized Segmentation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690872" y="2551176"/>
            <a:ext cx="3977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39" name="Shape 37"/>
          <p:cNvSpPr/>
          <p:nvPr/>
        </p:nvSpPr>
        <p:spPr>
          <a:xfrm>
            <a:off x="4690872" y="2551176"/>
            <a:ext cx="475488" cy="457200"/>
          </a:xfrm>
          <a:prstGeom prst="rect">
            <a:avLst/>
          </a:prstGeom>
          <a:solidFill>
            <a:srgbClr val="0E6E7E"/>
          </a:solidFill>
          <a:ln w="12700">
            <a:solidFill>
              <a:srgbClr val="0E6E7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40" name="Text 38"/>
          <p:cNvSpPr/>
          <p:nvPr/>
        </p:nvSpPr>
        <p:spPr>
          <a:xfrm>
            <a:off x="4690872" y="2551176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257800" y="2551176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&amp; Rekomendasi Strategi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54864" cy="47548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" name="Text 1"/>
          <p:cNvSpPr/>
          <p:nvPr/>
        </p:nvSpPr>
        <p:spPr>
          <a:xfrm>
            <a:off x="512064" y="14630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Belakang, Tujuan &amp; Rumusan Masalah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4160520" cy="40050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6" name="Shape 4"/>
          <p:cNvSpPr/>
          <p:nvPr/>
        </p:nvSpPr>
        <p:spPr>
          <a:xfrm>
            <a:off x="365760" y="932688"/>
            <a:ext cx="4160520" cy="640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Text 5"/>
          <p:cNvSpPr/>
          <p:nvPr/>
        </p:nvSpPr>
        <p:spPr>
          <a:xfrm>
            <a:off x="502920" y="102412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Pengenalan Proyek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Mengelompokkan nasabah kartu kredit ke dalam segmen profil berbeda berdasarkan perilaku transaksi. Krusial bagi perbankan untuk: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084832"/>
            <a:ext cx="45720" cy="320040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0" name="Text 8"/>
          <p:cNvSpPr/>
          <p:nvPr/>
        </p:nvSpPr>
        <p:spPr>
          <a:xfrm>
            <a:off x="640080" y="208483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kebijakan kenaikan credit limit yang aman dan terukur.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505456"/>
            <a:ext cx="45720" cy="320040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Text 10"/>
          <p:cNvSpPr/>
          <p:nvPr/>
        </p:nvSpPr>
        <p:spPr>
          <a:xfrm>
            <a:off x="640080" y="2505456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kampanye pemasaran yang tepat sasaran (hyper-targeted marketing).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962656"/>
            <a:ext cx="3886200" cy="18288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4" name="Text 12"/>
          <p:cNvSpPr/>
          <p:nvPr/>
        </p:nvSpPr>
        <p:spPr>
          <a:xfrm>
            <a:off x="502920" y="30175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Batasan Masalah &amp; Metodologi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36499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tumpang tindih (overlap) tinggi pada populasi kelas menengah (zona abu-abu) menurunkan ketegasan klaster.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Solusi: Polarized Segmentation dengan alur 4 tahap.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096512"/>
            <a:ext cx="1234440" cy="1828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7" name="Text 15"/>
          <p:cNvSpPr/>
          <p:nvPr/>
        </p:nvSpPr>
        <p:spPr>
          <a:xfrm>
            <a:off x="502920" y="409651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Eksplorasi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783080" y="4096512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diuji pada seluruh populasi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4297680"/>
            <a:ext cx="1234440" cy="1828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Text 18"/>
          <p:cNvSpPr/>
          <p:nvPr/>
        </p:nvSpPr>
        <p:spPr>
          <a:xfrm>
            <a:off x="502920" y="429768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Optimasi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783080" y="4297680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Denoising — kecualikan zona abu-abu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4498848"/>
            <a:ext cx="1234440" cy="1828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3" name="Text 21"/>
          <p:cNvSpPr/>
          <p:nvPr/>
        </p:nvSpPr>
        <p:spPr>
          <a:xfrm>
            <a:off x="502920" y="4498848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Model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783080" y="4498848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Difokuskan pada nasabah kutub ekstrem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4700016"/>
            <a:ext cx="1234440" cy="1828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6" name="Text 24"/>
          <p:cNvSpPr/>
          <p:nvPr/>
        </p:nvSpPr>
        <p:spPr>
          <a:xfrm>
            <a:off x="502920" y="470001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Akhir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783080" y="470001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&gt;= 0.70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932688"/>
            <a:ext cx="4069080" cy="40050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29" name="Shape 27"/>
          <p:cNvSpPr/>
          <p:nvPr/>
        </p:nvSpPr>
        <p:spPr>
          <a:xfrm>
            <a:off x="4709160" y="932688"/>
            <a:ext cx="4069080" cy="64008"/>
          </a:xfrm>
          <a:prstGeom prst="rect">
            <a:avLst/>
          </a:prstGeom>
          <a:solidFill>
            <a:srgbClr val="0E6E7E"/>
          </a:solidFill>
          <a:ln w="12700">
            <a:solidFill>
              <a:srgbClr val="0E6E7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0" name="Text 28"/>
          <p:cNvSpPr/>
          <p:nvPr/>
        </p:nvSpPr>
        <p:spPr>
          <a:xfrm>
            <a:off x="4846320" y="102412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Rumusan Masalah Akademis &amp; Teknis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28032" y="1453896"/>
            <a:ext cx="237744" cy="237744"/>
          </a:xfrm>
          <a:prstGeom prst="ellipse">
            <a:avLst/>
          </a:prstGeom>
          <a:solidFill>
            <a:srgbClr val="0E6E7E"/>
          </a:solidFill>
          <a:ln w="12700">
            <a:solidFill>
              <a:srgbClr val="0E6E7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2" name="Text 30"/>
          <p:cNvSpPr/>
          <p:nvPr/>
        </p:nvSpPr>
        <p:spPr>
          <a:xfrm>
            <a:off x="4828032" y="145389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20640" y="139903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Outlier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120640" y="1655064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penanganan outlier optimal pada data finansial dengan ketimpangan tinggi?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28032" y="2112264"/>
            <a:ext cx="237744" cy="237744"/>
          </a:xfrm>
          <a:prstGeom prst="ellipse">
            <a:avLst/>
          </a:prstGeom>
          <a:solidFill>
            <a:srgbClr val="0E6E7E"/>
          </a:solidFill>
          <a:ln w="12700">
            <a:solidFill>
              <a:srgbClr val="0E6E7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6" name="Text 34"/>
          <p:cNvSpPr/>
          <p:nvPr/>
        </p:nvSpPr>
        <p:spPr>
          <a:xfrm>
            <a:off x="4828032" y="211226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20640" y="205740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Stabilitas Algoritma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20640" y="2313432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K-Means++, Agglomerative, GMM — manakah yang menghasilkan pemisahan paling stabil?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28032" y="2770632"/>
            <a:ext cx="237744" cy="237744"/>
          </a:xfrm>
          <a:prstGeom prst="ellipse">
            <a:avLst/>
          </a:prstGeom>
          <a:solidFill>
            <a:srgbClr val="0E6E7E"/>
          </a:solidFill>
          <a:ln w="12700">
            <a:solidFill>
              <a:srgbClr val="0E6E7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40" name="Text 38"/>
          <p:cNvSpPr/>
          <p:nvPr/>
        </p:nvSpPr>
        <p:spPr>
          <a:xfrm>
            <a:off x="4828032" y="27706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20640" y="271576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Optimasi Skor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120640" y="297180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Polarized Segmentation membantu menembus Silhouette Score &gt;= 0.70?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28032" y="3401568"/>
            <a:ext cx="3822192" cy="18288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44" name="Text 42"/>
          <p:cNvSpPr/>
          <p:nvPr/>
        </p:nvSpPr>
        <p:spPr>
          <a:xfrm>
            <a:off x="4846320" y="345643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Pertanyaan Bisnis (Tujuan Korporat)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846320" y="3877056"/>
            <a:ext cx="45720" cy="18288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46" name="Text 44"/>
          <p:cNvSpPr/>
          <p:nvPr/>
        </p:nvSpPr>
        <p:spPr>
          <a:xfrm>
            <a:off x="4956048" y="38221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Profiling: 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400800" y="382219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 banyak segmen berdasarkan kebiasaan belanja dan tarik tunai?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46320" y="4151376"/>
            <a:ext cx="45720" cy="18288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49" name="Text 47"/>
          <p:cNvSpPr/>
          <p:nvPr/>
        </p:nvSpPr>
        <p:spPr>
          <a:xfrm>
            <a:off x="4956048" y="40965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Characteristics: 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400800" y="409651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karakteristik finansial (saldo, belanja, limit) tiap segmen?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46320" y="4425696"/>
            <a:ext cx="45720" cy="18288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52" name="Text 50"/>
          <p:cNvSpPr/>
          <p:nvPr/>
        </p:nvSpPr>
        <p:spPr>
          <a:xfrm>
            <a:off x="4956048" y="43708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Limit: 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400800" y="437083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 mana prioritas kenaikan limit? Mana yang harus ditahan?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846320" y="4700016"/>
            <a:ext cx="45720" cy="18288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55" name="Text 53"/>
          <p:cNvSpPr/>
          <p:nvPr/>
        </p:nvSpPr>
        <p:spPr>
          <a:xfrm>
            <a:off x="4956048" y="46451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Promosi: 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400800" y="464515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Penawaran promosi apa yang paling efektif per kelompok?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54864" cy="47548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" name="Text 1"/>
          <p:cNvSpPr/>
          <p:nvPr/>
        </p:nvSpPr>
        <p:spPr>
          <a:xfrm>
            <a:off x="512064" y="14630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Preprocessing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12064" y="5577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GENERAL.csv — 3 Langkah Pembersihan Data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7373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1737360" cy="640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6"/>
          <p:cNvSpPr/>
          <p:nvPr/>
        </p:nvSpPr>
        <p:spPr>
          <a:xfrm>
            <a:off x="365760" y="107899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8.950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5819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Nasabah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40280" y="960120"/>
            <a:ext cx="17373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1" name="Shape 9"/>
          <p:cNvSpPr/>
          <p:nvPr/>
        </p:nvSpPr>
        <p:spPr>
          <a:xfrm>
            <a:off x="2240280" y="960120"/>
            <a:ext cx="1737360" cy="6400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Text 10"/>
          <p:cNvSpPr/>
          <p:nvPr/>
        </p:nvSpPr>
        <p:spPr>
          <a:xfrm>
            <a:off x="2240280" y="107899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240280" y="15819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960120"/>
            <a:ext cx="17373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5" name="Shape 13"/>
          <p:cNvSpPr/>
          <p:nvPr/>
        </p:nvSpPr>
        <p:spPr>
          <a:xfrm>
            <a:off x="4114800" y="960120"/>
            <a:ext cx="1737360" cy="64008"/>
          </a:xfrm>
          <a:prstGeom prst="rect">
            <a:avLst/>
          </a:prstGeom>
          <a:solidFill>
            <a:srgbClr val="0E6E7E"/>
          </a:solidFill>
          <a:ln w="12700">
            <a:solidFill>
              <a:srgbClr val="0E6E7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6" name="Text 14"/>
          <p:cNvSpPr/>
          <p:nvPr/>
        </p:nvSpPr>
        <p:spPr>
          <a:xfrm>
            <a:off x="4114800" y="107899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114800" y="15819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029968"/>
            <a:ext cx="5074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9" name="Shape 17"/>
          <p:cNvSpPr/>
          <p:nvPr/>
        </p:nvSpPr>
        <p:spPr>
          <a:xfrm>
            <a:off x="365760" y="2029968"/>
            <a:ext cx="502920" cy="7498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Text 18"/>
          <p:cNvSpPr/>
          <p:nvPr/>
        </p:nvSpPr>
        <p:spPr>
          <a:xfrm>
            <a:off x="365760" y="2029968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2093976"/>
            <a:ext cx="4370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Kolom ID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2395728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CUST_ID dihapus — pengenal unik teks, tidak bermakna secara statistik.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2871216"/>
            <a:ext cx="5074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24" name="Shape 22"/>
          <p:cNvSpPr/>
          <p:nvPr/>
        </p:nvSpPr>
        <p:spPr>
          <a:xfrm>
            <a:off x="365760" y="2871216"/>
            <a:ext cx="502920" cy="7498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5" name="Text 23"/>
          <p:cNvSpPr/>
          <p:nvPr/>
        </p:nvSpPr>
        <p:spPr>
          <a:xfrm>
            <a:off x="365760" y="2871216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" y="2935224"/>
            <a:ext cx="4370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Imputasi Missing Values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3236976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 nilai kosong pada MINIMUM_PAYMENTS dan 1 pada CREDIT_LIMIT diisi dengan Median (lebih robust terhadap outlier).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712464"/>
            <a:ext cx="5074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29" name="Shape 27"/>
          <p:cNvSpPr/>
          <p:nvPr/>
        </p:nvSpPr>
        <p:spPr>
          <a:xfrm>
            <a:off x="365760" y="3712464"/>
            <a:ext cx="502920" cy="7498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0" name="Text 28"/>
          <p:cNvSpPr/>
          <p:nvPr/>
        </p:nvSpPr>
        <p:spPr>
          <a:xfrm>
            <a:off x="365760" y="3712464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0120" y="3776472"/>
            <a:ext cx="4370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Capping Outlier — Winsorizing Persentil 95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0120" y="4078224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ekstrem dipangkas: PURCHASES dari $49.039 turun ke $3.998; CASH_ADVANCE dari $47.137 ke $4.647.</a:t>
            </a:r>
            <a:endParaRPr lang="en-US" sz="1050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23560" y="2058102"/>
            <a:ext cx="3154680" cy="2176272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5623560" y="424562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Setelah Capping Outlier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54864" cy="47548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" name="Text 1"/>
          <p:cNvSpPr/>
          <p:nvPr/>
        </p:nvSpPr>
        <p:spPr>
          <a:xfrm>
            <a:off x="512064" y="14630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12064" y="5577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Distribusi, Korelasi, dan Pola Klaster Alami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960120"/>
            <a:ext cx="4663440" cy="17556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724912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BALANCE, PURCHASES, CASH_ADVANCE — Right-Skewed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66360" y="960120"/>
            <a:ext cx="3611880" cy="17556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66360" y="2724912"/>
            <a:ext cx="3611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Korelasi — Multikolinearitas PURCHASES vs ONEOFF_PURCHASES: 0.87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5760" y="3063240"/>
            <a:ext cx="8412480" cy="17830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5760" y="4846320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Credit Limit dan Pola Nasabah: Saldo vs Belanja — 3 Natural Clusters Terdeteksi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1CEE68-E83C-67A2-845D-4D2B09106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B370AA4-5D95-1AE0-D322-CBAA7DF0D520}"/>
              </a:ext>
            </a:extLst>
          </p:cNvPr>
          <p:cNvSpPr/>
          <p:nvPr/>
        </p:nvSpPr>
        <p:spPr>
          <a:xfrm>
            <a:off x="365760" y="182880"/>
            <a:ext cx="54864" cy="47548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7A77E4B-3023-0847-7DAF-53F882CA24F5}"/>
              </a:ext>
            </a:extLst>
          </p:cNvPr>
          <p:cNvSpPr/>
          <p:nvPr/>
        </p:nvSpPr>
        <p:spPr>
          <a:xfrm>
            <a:off x="512064" y="14630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D9339D-95AC-E6AC-43A9-A74FD5EFA2DC}"/>
              </a:ext>
            </a:extLst>
          </p:cNvPr>
          <p:cNvSpPr/>
          <p:nvPr/>
        </p:nvSpPr>
        <p:spPr>
          <a:xfrm>
            <a:off x="512064" y="5577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Distribusi, Korelasi, dan Pola Klaster Alami</a:t>
            </a:r>
            <a:endParaRPr lang="en-US" sz="1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0031BDB-A2C0-AC09-A98D-BDE7F75F9955}"/>
              </a:ext>
            </a:extLst>
          </p:cNvPr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B32CBC78-8646-A58C-3CB0-09176023D2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3803" y="890298"/>
            <a:ext cx="6154616" cy="3880015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B64E8106-15E8-B6EE-D3B2-F610E60B7AA9}"/>
              </a:ext>
            </a:extLst>
          </p:cNvPr>
          <p:cNvSpPr/>
          <p:nvPr/>
        </p:nvSpPr>
        <p:spPr>
          <a:xfrm>
            <a:off x="2820572" y="4553716"/>
            <a:ext cx="4579034" cy="588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Korelasi — Multikolinearitas PURCHASES vs ONEOFF_PURCHASES: 0.87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48807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54864" cy="47548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" name="Text 1"/>
          <p:cNvSpPr/>
          <p:nvPr/>
        </p:nvSpPr>
        <p:spPr>
          <a:xfrm>
            <a:off x="512064" y="14630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Penentuan Jumlah Klaster Optimal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12064" y="5577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dan Silhouette Score — K = 2 hingga 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960120"/>
            <a:ext cx="5852160" cy="2697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960120"/>
            <a:ext cx="233172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8" name="Shape 5"/>
          <p:cNvSpPr/>
          <p:nvPr/>
        </p:nvSpPr>
        <p:spPr>
          <a:xfrm>
            <a:off x="6446520" y="960120"/>
            <a:ext cx="2331720" cy="6400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9" name="Text 6"/>
          <p:cNvSpPr/>
          <p:nvPr/>
        </p:nvSpPr>
        <p:spPr>
          <a:xfrm>
            <a:off x="6537960" y="10424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Interpretasi Grafik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37960" y="1444752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Penurunan inertia mulai melandai signifikan di K = 3.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tertinggi di K = 2 (0.267), namun K = 3 lebih informatif secara bisnis.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5760" y="3822192"/>
            <a:ext cx="841248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2" name="Shape 9"/>
          <p:cNvSpPr/>
          <p:nvPr/>
        </p:nvSpPr>
        <p:spPr>
          <a:xfrm>
            <a:off x="365760" y="3822192"/>
            <a:ext cx="64008" cy="65836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Text 10"/>
          <p:cNvSpPr/>
          <p:nvPr/>
        </p:nvSpPr>
        <p:spPr>
          <a:xfrm>
            <a:off x="530352" y="382219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Keputusan: K = 3 dipilih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94760" y="382219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klaster menghasilkan segmentasi lebih granular dan kaya wawasan bisnis: Premium Shoppers, Cash-Advance Relyers, dan Passive Majority.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54864" cy="47548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" name="Text 1"/>
          <p:cNvSpPr/>
          <p:nvPr/>
        </p:nvSpPr>
        <p:spPr>
          <a:xfrm>
            <a:off x="512064" y="14630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&amp; Evaluasi Komparatif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12064" y="5577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K-Means++, GMM, Agglomerative — 3 Skenario Data Splitting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960120"/>
            <a:ext cx="3931920" cy="1920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88950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Evaluasi (Silhouette Score dan DBI)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34840" y="960120"/>
            <a:ext cx="4343400" cy="2880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34840" y="3840480"/>
            <a:ext cx="4343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Klaster PCA 2D — K-Means++, GMM, Agglomerative x 3 Skenario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65760" y="3218688"/>
            <a:ext cx="3931920" cy="25603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7"/>
          <p:cNvSpPr/>
          <p:nvPr/>
        </p:nvSpPr>
        <p:spPr>
          <a:xfrm>
            <a:off x="502920" y="32186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K-Means++:  JUARA — Stabil, genuine separation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65760" y="3520440"/>
            <a:ext cx="3931920" cy="256032"/>
          </a:xfrm>
          <a:prstGeom prst="rect">
            <a:avLst/>
          </a:prstGeom>
          <a:solidFill>
            <a:srgbClr val="8A3030"/>
          </a:solidFill>
          <a:ln w="12700">
            <a:solidFill>
              <a:srgbClr val="8A303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Text 9"/>
          <p:cNvSpPr/>
          <p:nvPr/>
        </p:nvSpPr>
        <p:spPr>
          <a:xfrm>
            <a:off x="502920" y="35204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Agglomerative:  Skor tertinggi tapi Chaining Effect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65760" y="3822192"/>
            <a:ext cx="3931920" cy="256032"/>
          </a:xfrm>
          <a:prstGeom prst="rect">
            <a:avLst/>
          </a:prstGeom>
          <a:solidFill>
            <a:srgbClr val="0E6E7E"/>
          </a:solidFill>
          <a:ln w="12700">
            <a:solidFill>
              <a:srgbClr val="0E6E7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Text 11"/>
          <p:cNvSpPr/>
          <p:nvPr/>
        </p:nvSpPr>
        <p:spPr>
          <a:xfrm>
            <a:off x="502920" y="38221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GMM:  Performa di bawah K-Means++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54864" cy="47548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" name="Text 1"/>
          <p:cNvSpPr/>
          <p:nvPr/>
        </p:nvSpPr>
        <p:spPr>
          <a:xfrm>
            <a:off x="512064" y="14630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Good Fitting &amp; Hyperparameter Tuning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12064" y="5577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stabilitas model sebelum deployment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39319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3931920" cy="640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Good Fitting — K-Means++ (K=3)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1481328"/>
            <a:ext cx="3822192" cy="329184"/>
          </a:xfrm>
          <a:prstGeom prst="rect">
            <a:avLst/>
          </a:prstGeom>
          <a:solidFill>
            <a:srgbClr val="F4F7FA"/>
          </a:solidFill>
          <a:ln w="635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0" name="Text 8"/>
          <p:cNvSpPr/>
          <p:nvPr/>
        </p:nvSpPr>
        <p:spPr>
          <a:xfrm>
            <a:off x="502920" y="14813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— Data Training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08960" y="148132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0.2416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1865376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Text 11"/>
          <p:cNvSpPr/>
          <p:nvPr/>
        </p:nvSpPr>
        <p:spPr>
          <a:xfrm>
            <a:off x="502920" y="18653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— Data Testing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08960" y="186537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0.2289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249424"/>
            <a:ext cx="3822192" cy="329184"/>
          </a:xfrm>
          <a:prstGeom prst="rect">
            <a:avLst/>
          </a:prstGeom>
          <a:solidFill>
            <a:srgbClr val="F4F7FA"/>
          </a:solidFill>
          <a:ln w="635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6" name="Text 14"/>
          <p:cNvSpPr/>
          <p:nvPr/>
        </p:nvSpPr>
        <p:spPr>
          <a:xfrm>
            <a:off x="502920" y="224942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Absolut (Delta)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08960" y="224942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0.0127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633472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9" name="Text 17"/>
          <p:cNvSpPr/>
          <p:nvPr/>
        </p:nvSpPr>
        <p:spPr>
          <a:xfrm>
            <a:off x="502920" y="26334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Persentase Degradasi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108960" y="263347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200400"/>
            <a:ext cx="393192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2" name="Text 20"/>
          <p:cNvSpPr/>
          <p:nvPr/>
        </p:nvSpPr>
        <p:spPr>
          <a:xfrm>
            <a:off x="457200" y="3200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GOOD FITTING  (Degradasi &lt; 10% — Production-Ready)</a:t>
            </a:r>
            <a:endParaRPr lang="en-US" sz="10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34840" y="960120"/>
            <a:ext cx="4343400" cy="21031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434840" y="3063240"/>
            <a:ext cx="4343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Hasil Hyperparameter Tuning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434840" y="3364992"/>
            <a:ext cx="43434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26" name="Shape 23"/>
          <p:cNvSpPr/>
          <p:nvPr/>
        </p:nvSpPr>
        <p:spPr>
          <a:xfrm>
            <a:off x="4434840" y="3364992"/>
            <a:ext cx="64008" cy="822960"/>
          </a:xfrm>
          <a:prstGeom prst="rect">
            <a:avLst/>
          </a:prstGeom>
          <a:solidFill>
            <a:srgbClr val="8A3030"/>
          </a:solidFill>
          <a:ln w="12700">
            <a:solidFill>
              <a:srgbClr val="8A303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7" name="Text 24"/>
          <p:cNvSpPr/>
          <p:nvPr/>
        </p:nvSpPr>
        <p:spPr>
          <a:xfrm>
            <a:off x="4590288" y="3429000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Kritis: Chaining Effect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590288" y="3730752"/>
            <a:ext cx="4096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 Single Linkage mendapat skor 0.42 (tertinggi), namun visualisasi PCA menunjukkan 99% data dalam 1 klaster. Diabaikan.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54864" cy="47548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" name="Text 1"/>
          <p:cNvSpPr/>
          <p:nvPr/>
        </p:nvSpPr>
        <p:spPr>
          <a:xfrm>
            <a:off x="512064" y="14630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Final — Peta Klaster K-Means++ (K=3)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12064" y="5577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Dilatih pada 100% data dengan reduksi dimensi PCA 2D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960120"/>
            <a:ext cx="5120640" cy="3566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54456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 — Pemisahan 3 Segmen yang Bermakna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69280" y="960120"/>
            <a:ext cx="3108960" cy="22402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0" y="320954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 (Diabaikan) — Chaining Effect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669280" y="3520440"/>
            <a:ext cx="31089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1" name="Shape 7"/>
          <p:cNvSpPr/>
          <p:nvPr/>
        </p:nvSpPr>
        <p:spPr>
          <a:xfrm>
            <a:off x="5669280" y="3520440"/>
            <a:ext cx="3108960" cy="640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Text 8"/>
          <p:cNvSpPr/>
          <p:nvPr/>
        </p:nvSpPr>
        <p:spPr>
          <a:xfrm>
            <a:off x="5779008" y="3611880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Final K-Means++ (K=3)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779008" y="3968496"/>
            <a:ext cx="2889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Score: 0.2384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779008" y="4224528"/>
            <a:ext cx="2889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 Index: 1.5000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779008" y="4480560"/>
            <a:ext cx="2889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Genuine Separation — Good Fitting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54864" cy="47548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" name="Text 1"/>
          <p:cNvSpPr/>
          <p:nvPr/>
        </p:nvSpPr>
        <p:spPr>
          <a:xfrm>
            <a:off x="512064" y="14630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Karakteristik Finansial per Segmen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12064" y="5577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nilai transaksi (USD) — K-Means++ (K=3) pada 100% Data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960120"/>
            <a:ext cx="5486400" cy="2926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960120"/>
            <a:ext cx="27889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8" name="Shape 5"/>
          <p:cNvSpPr/>
          <p:nvPr/>
        </p:nvSpPr>
        <p:spPr>
          <a:xfrm>
            <a:off x="5989320" y="960120"/>
            <a:ext cx="2788920" cy="6400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9" name="Text 6"/>
          <p:cNvSpPr/>
          <p:nvPr/>
        </p:nvSpPr>
        <p:spPr>
          <a:xfrm>
            <a:off x="6099048" y="106984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 1  —  Premium Shoppers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099048" y="1417320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$1.851 | Belanja $2.680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Tertinggi | 1.727 nasabah (19.3%)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99048" y="1856232"/>
            <a:ext cx="45720" cy="219456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Text 9"/>
          <p:cNvSpPr/>
          <p:nvPr/>
        </p:nvSpPr>
        <p:spPr>
          <a:xfrm>
            <a:off x="6199632" y="185623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 kenaikan limit + program loyalitas premium (Air Miles, lounge)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89320" y="2258568"/>
            <a:ext cx="27889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4" name="Shape 11"/>
          <p:cNvSpPr/>
          <p:nvPr/>
        </p:nvSpPr>
        <p:spPr>
          <a:xfrm>
            <a:off x="5989320" y="2258568"/>
            <a:ext cx="2788920" cy="64008"/>
          </a:xfrm>
          <a:prstGeom prst="rect">
            <a:avLst/>
          </a:prstGeom>
          <a:solidFill>
            <a:srgbClr val="8A3030"/>
          </a:solidFill>
          <a:ln w="12700">
            <a:solidFill>
              <a:srgbClr val="8A303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Text 12"/>
          <p:cNvSpPr/>
          <p:nvPr/>
        </p:nvSpPr>
        <p:spPr>
          <a:xfrm>
            <a:off x="6099048" y="236829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 2  —  Cash-Advance Relyers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099048" y="2715768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$3.216 | Tarik Tunai Tertinggi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Menengah | 1.951 nasabah (21.8%)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99048" y="3154680"/>
            <a:ext cx="45720" cy="219456"/>
          </a:xfrm>
          <a:prstGeom prst="rect">
            <a:avLst/>
          </a:prstGeom>
          <a:solidFill>
            <a:srgbClr val="8A3030"/>
          </a:solidFill>
          <a:ln w="12700">
            <a:solidFill>
              <a:srgbClr val="8A303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8" name="Text 15"/>
          <p:cNvSpPr/>
          <p:nvPr/>
        </p:nvSpPr>
        <p:spPr>
          <a:xfrm>
            <a:off x="6199632" y="315468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Tahan limit — restrukturisasi cicilan bunga ringan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989320" y="3557016"/>
            <a:ext cx="27889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20" name="Shape 17"/>
          <p:cNvSpPr/>
          <p:nvPr/>
        </p:nvSpPr>
        <p:spPr>
          <a:xfrm>
            <a:off x="5989320" y="3557016"/>
            <a:ext cx="2788920" cy="64008"/>
          </a:xfrm>
          <a:prstGeom prst="rect">
            <a:avLst/>
          </a:prstGeom>
          <a:solidFill>
            <a:srgbClr val="0E6E7E"/>
          </a:solidFill>
          <a:ln w="12700">
            <a:solidFill>
              <a:srgbClr val="0E6E7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1" name="Text 18"/>
          <p:cNvSpPr/>
          <p:nvPr/>
        </p:nvSpPr>
        <p:spPr>
          <a:xfrm>
            <a:off x="6099048" y="3666744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 3  —  Passive Majority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099048" y="4014216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$669 | Belanja $416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Terendah | 5.272 nasabah (58.9%)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099048" y="4453128"/>
            <a:ext cx="45720" cy="219456"/>
          </a:xfrm>
          <a:prstGeom prst="rect">
            <a:avLst/>
          </a:prstGeom>
          <a:solidFill>
            <a:srgbClr val="0E6E7E"/>
          </a:solidFill>
          <a:ln w="12700">
            <a:solidFill>
              <a:srgbClr val="0E6E7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4" name="Text 21"/>
          <p:cNvSpPr/>
          <p:nvPr/>
        </p:nvSpPr>
        <p:spPr>
          <a:xfrm>
            <a:off x="6199632" y="445312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Stimulasi via cashback supermarket/bensin untuk meningkatkan keaktifan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365760" y="4023360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didasarkan pada rata-rata nilai riil (USD) setelah capping outlier Persentil ke-95.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54864" cy="47548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" name="Text 1"/>
          <p:cNvSpPr/>
          <p:nvPr/>
        </p:nvSpPr>
        <p:spPr>
          <a:xfrm>
            <a:off x="512064" y="14630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Polarized Segmentation — Hyper-Targeted Marketing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12064" y="5577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Data Pruning untuk mencapai Silhouette Score &gt;= 0.70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374904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3749040" cy="6400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 Pruning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347472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6112" y="150876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Ekstrak 15% nasabah teratas — Saldo &amp; Belanja &gt; Persentil 85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984248"/>
            <a:ext cx="347472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Text 11"/>
          <p:cNvSpPr/>
          <p:nvPr/>
        </p:nvSpPr>
        <p:spPr>
          <a:xfrm>
            <a:off x="457200" y="19842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6112" y="198424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Ekstrak 30% nasabah terbawah — Saldo &amp; Belanja &lt; Persentil 30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459736"/>
            <a:ext cx="347472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6" name="Text 14"/>
          <p:cNvSpPr/>
          <p:nvPr/>
        </p:nvSpPr>
        <p:spPr>
          <a:xfrm>
            <a:off x="457200" y="24597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" y="2459736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zona tengah (abu-abu) — 55% populasi ambigu dibuang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935224"/>
            <a:ext cx="347472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9" name="Text 17"/>
          <p:cNvSpPr/>
          <p:nvPr/>
        </p:nvSpPr>
        <p:spPr>
          <a:xfrm>
            <a:off x="457200" y="29352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6112" y="2935224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 K-Means++ K=2 pada 841 nasabah yang tersisa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913632"/>
            <a:ext cx="37490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22" name="Shape 20"/>
          <p:cNvSpPr/>
          <p:nvPr/>
        </p:nvSpPr>
        <p:spPr>
          <a:xfrm>
            <a:off x="365760" y="3913632"/>
            <a:ext cx="3749040" cy="6400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3" name="Text 21"/>
          <p:cNvSpPr/>
          <p:nvPr/>
        </p:nvSpPr>
        <p:spPr>
          <a:xfrm>
            <a:off x="502920" y="39959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Evaluasi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31596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Silhouette: 0.8915  |  DBI: 0.2135  |  Degradasi Train-Test: 0.0059 (Sangat Stabil)</a:t>
            </a:r>
            <a:endParaRPr lang="en-US" sz="105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97680" y="960120"/>
            <a:ext cx="4480560" cy="3749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297680" y="470916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Polarized Segmentation — Gap sangat lebar antar Kutub Premium vs Pasif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54864" cy="47548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" name="Text 1"/>
          <p:cNvSpPr/>
          <p:nvPr/>
        </p:nvSpPr>
        <p:spPr>
          <a:xfrm>
            <a:off x="512064" y="14630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Final &amp; Rekomendasi Strategi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4160520" cy="40050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6" name="Shape 4"/>
          <p:cNvSpPr/>
          <p:nvPr/>
        </p:nvSpPr>
        <p:spPr>
          <a:xfrm>
            <a:off x="365760" y="932688"/>
            <a:ext cx="4160520" cy="640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Text 5"/>
          <p:cNvSpPr/>
          <p:nvPr/>
        </p:nvSpPr>
        <p:spPr>
          <a:xfrm>
            <a:off x="502920" y="102412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Kesimpulan Akademis &amp; Teknis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29184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329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6968" y="1472184"/>
            <a:ext cx="3529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Penanganan Outlier &amp; Ruang 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6968" y="1783080"/>
            <a:ext cx="3529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terbukti memiliki overlap tinggi. Winsorizing/Capping Persentil 95 krusial untuk menjaga centroid klaster tidak rusak oleh nilai anomali ekstrem.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329184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329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6968" y="2615184"/>
            <a:ext cx="3529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Superioritas K-Means++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86968" y="2926080"/>
            <a:ext cx="3529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 terbukti paling stabil dan logis. Uji silang Train vs Test menunjukkan Good Fitting dengan degradasi ~5.25% — tidak overfitting, siap digunakan pada data baru.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329184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7" name="Text 15"/>
          <p:cNvSpPr/>
          <p:nvPr/>
        </p:nvSpPr>
        <p:spPr>
          <a:xfrm>
            <a:off x="457200" y="3703320"/>
            <a:ext cx="329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6968" y="3758184"/>
            <a:ext cx="3529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Polarized Segmentation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6968" y="4069080"/>
            <a:ext cx="3529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populasi utuh sulit menembus Silhouette 0.70. Dengan Polarized Segmentation (pemangkasan zona abu-abu), mesin menembus Silhouette Score 0.88+ dan DBI 0.22+, jauh melampaui target.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932688"/>
            <a:ext cx="4069080" cy="40050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21" name="Shape 19"/>
          <p:cNvSpPr/>
          <p:nvPr/>
        </p:nvSpPr>
        <p:spPr>
          <a:xfrm>
            <a:off x="4709160" y="932688"/>
            <a:ext cx="4069080" cy="64008"/>
          </a:xfrm>
          <a:prstGeom prst="rect">
            <a:avLst/>
          </a:prstGeom>
          <a:solidFill>
            <a:srgbClr val="0E6E7E"/>
          </a:solidFill>
          <a:ln w="12700">
            <a:solidFill>
              <a:srgbClr val="0E6E7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2" name="Text 20"/>
          <p:cNvSpPr/>
          <p:nvPr/>
        </p:nvSpPr>
        <p:spPr>
          <a:xfrm>
            <a:off x="4846320" y="102412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Kesimpulan Bisnis &amp; Strategi Korporat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13990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B.1  Pendekatan Reguler — 3 Profil Utama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28032" y="1764792"/>
            <a:ext cx="45720" cy="502920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5" name="Text 23"/>
          <p:cNvSpPr/>
          <p:nvPr/>
        </p:nvSpPr>
        <p:spPr>
          <a:xfrm>
            <a:off x="4937760" y="17190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Shoppers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37760" y="199339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 kenaikan limit kredit + program loyalitas premium (Air Miles, lounge access).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28032" y="2423160"/>
            <a:ext cx="45720" cy="502920"/>
          </a:xfrm>
          <a:prstGeom prst="rect">
            <a:avLst/>
          </a:prstGeom>
          <a:solidFill>
            <a:srgbClr val="8A3030"/>
          </a:solidFill>
          <a:ln w="12700">
            <a:solidFill>
              <a:srgbClr val="8A303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8" name="Text 26"/>
          <p:cNvSpPr/>
          <p:nvPr/>
        </p:nvSpPr>
        <p:spPr>
          <a:xfrm>
            <a:off x="4937760" y="2377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Cash-Advance Relyers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37760" y="26517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Tahan limit — manajemen risiko, restrukturisasi cicilan bunga ringan.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28032" y="3081528"/>
            <a:ext cx="45720" cy="502920"/>
          </a:xfrm>
          <a:prstGeom prst="rect">
            <a:avLst/>
          </a:prstGeom>
          <a:solidFill>
            <a:srgbClr val="0E6E7E"/>
          </a:solidFill>
          <a:ln w="12700">
            <a:solidFill>
              <a:srgbClr val="0E6E7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1" name="Text 29"/>
          <p:cNvSpPr/>
          <p:nvPr/>
        </p:nvSpPr>
        <p:spPr>
          <a:xfrm>
            <a:off x="4937760" y="30358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Majority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37760" y="331012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Stimulasi via promo kebutuhan harian (cashback supermarket/bensin) untuk meningkatkan keaktifan kartu.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28032" y="3749040"/>
            <a:ext cx="3822192" cy="18288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4" name="Text 32"/>
          <p:cNvSpPr/>
          <p:nvPr/>
        </p:nvSpPr>
        <p:spPr>
          <a:xfrm>
            <a:off x="4846320" y="380390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B.2  Pendekatan Hyper-Targeting — Kutub Ekstrem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28032" y="4151376"/>
            <a:ext cx="45720" cy="347472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6" name="Text 34"/>
          <p:cNvSpPr/>
          <p:nvPr/>
        </p:nvSpPr>
        <p:spPr>
          <a:xfrm>
            <a:off x="4937760" y="411480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Kutub Premium Mutlak (Top 15%)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435254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pendapatan utama. Layanan VIP, penawaran eksklusif, tidak batasi limit ketat.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28032" y="4608576"/>
            <a:ext cx="4572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9" name="Text 37"/>
          <p:cNvSpPr/>
          <p:nvPr/>
        </p:nvSpPr>
        <p:spPr>
          <a:xfrm>
            <a:off x="4937760" y="457200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Kutub Pasif Mutlak (Bottom 30%)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37760" y="480974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Aktivasi Pertama: bebas iuran tahunan atau voucher belanja instan.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2E52"/>
          </a:solidFill>
          <a:ln w="12700">
            <a:solidFill>
              <a:srgbClr val="0D2E52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" name="Shape 1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091B30"/>
          </a:solidFill>
          <a:ln w="12700">
            <a:solidFill>
              <a:srgbClr val="091B3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4" name="Text 2"/>
          <p:cNvSpPr/>
          <p:nvPr/>
        </p:nvSpPr>
        <p:spPr>
          <a:xfrm>
            <a:off x="594360" y="76669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94360" y="2184010"/>
            <a:ext cx="2560320" cy="4114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6" name="Text 4"/>
          <p:cNvSpPr/>
          <p:nvPr/>
        </p:nvSpPr>
        <p:spPr>
          <a:xfrm>
            <a:off x="594360" y="2302882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B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Segmentasi Perilaku Pengguna Kartu Kredit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9B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Strategi Limit dan Penawaran Promosi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3189852"/>
            <a:ext cx="1828800" cy="960120"/>
          </a:xfrm>
          <a:prstGeom prst="rect">
            <a:avLst/>
          </a:prstGeom>
          <a:solidFill>
            <a:srgbClr val="0D2E52"/>
          </a:solidFill>
          <a:ln w="12700">
            <a:solidFill>
              <a:srgbClr val="0E6E7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6"/>
          <p:cNvSpPr/>
          <p:nvPr/>
        </p:nvSpPr>
        <p:spPr>
          <a:xfrm>
            <a:off x="594360" y="326300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8.950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360" y="375677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Nasabah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3189852"/>
            <a:ext cx="1828800" cy="960120"/>
          </a:xfrm>
          <a:prstGeom prst="rect">
            <a:avLst/>
          </a:prstGeom>
          <a:solidFill>
            <a:srgbClr val="0D2E52"/>
          </a:solidFill>
          <a:ln w="12700">
            <a:solidFill>
              <a:srgbClr val="0E6E7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9"/>
          <p:cNvSpPr/>
          <p:nvPr/>
        </p:nvSpPr>
        <p:spPr>
          <a:xfrm>
            <a:off x="2743200" y="326300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743200" y="375677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92040" y="3189850"/>
            <a:ext cx="1828800" cy="960120"/>
          </a:xfrm>
          <a:prstGeom prst="rect">
            <a:avLst/>
          </a:prstGeom>
          <a:solidFill>
            <a:srgbClr val="0D2E52"/>
          </a:solidFill>
          <a:ln w="12700">
            <a:solidFill>
              <a:srgbClr val="0E6E7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4" name="Text 12"/>
          <p:cNvSpPr/>
          <p:nvPr/>
        </p:nvSpPr>
        <p:spPr>
          <a:xfrm>
            <a:off x="4892040" y="326300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92040" y="375677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3189850"/>
            <a:ext cx="1828800" cy="960120"/>
          </a:xfrm>
          <a:prstGeom prst="rect">
            <a:avLst/>
          </a:prstGeom>
          <a:solidFill>
            <a:srgbClr val="0D2E52"/>
          </a:solidFill>
          <a:ln w="12700">
            <a:solidFill>
              <a:srgbClr val="0E6E7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7" name="Text 15"/>
          <p:cNvSpPr/>
          <p:nvPr/>
        </p:nvSpPr>
        <p:spPr>
          <a:xfrm>
            <a:off x="7040880" y="326300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1.28%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040880" y="375677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Degradasi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435254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Almunajat Amirul Soleh  |  Machine Learning  |  Unsupervised Learning — Clustering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1249</Words>
  <Application>Microsoft Office PowerPoint</Application>
  <PresentationFormat>On-screen Show (16:9)</PresentationFormat>
  <Paragraphs>205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Segmentasi Perilaku Pengguna Kartu Kredit</dc:title>
  <dc:subject>PptxGenJS Presentation</dc:subject>
  <dc:creator>Almunajat Amirul Soleh</dc:creator>
  <cp:lastModifiedBy>HP RYZEN 3</cp:lastModifiedBy>
  <cp:revision>2</cp:revision>
  <dcterms:created xsi:type="dcterms:W3CDTF">2026-04-22T01:31:39Z</dcterms:created>
  <dcterms:modified xsi:type="dcterms:W3CDTF">2026-04-22T05:34:04Z</dcterms:modified>
</cp:coreProperties>
</file>